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SAMSUNG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406640" y="18288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9A3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TCS / PQA INTELLIGENCE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Platform. Total Performance Visibility.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426464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9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Samsung transforms engineer data into realtime ranking, coaching, and operational decisions.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10469880" cy="4069080"/>
          </a:xfrm>
          <a:prstGeom prst="roundRect">
            <a:avLst>
              <a:gd name="adj" fmla="val 2697"/>
            </a:avLst>
          </a:prstGeom>
          <a:solidFill>
            <a:srgbClr val="0B1222"/>
          </a:solidFill>
          <a:ln w="12700">
            <a:solidFill>
              <a:srgbClr val="2840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788920"/>
            <a:ext cx="9601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TCS/PQA APP INTRO</a:t>
            </a:r>
            <a:pPr algn="ctr" indent="0" marL="0">
              <a:buNone/>
            </a:pPr>
            <a:r>
              <a:rPr lang="en-US" sz="2400" dirty="0">
                <a:solidFill>
                  <a:srgbClr val="AFC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Built for leadership, operations, and every engineer.
</a:t>
            </a:r>
            <a:pPr algn="ctr" indent="0" marL="0">
              <a:buNone/>
            </a:pPr>
            <a:r>
              <a:rPr lang="en-US" sz="2400" b="1" dirty="0">
                <a:solidFill>
                  <a:srgbClr val="66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Ingest  •  Smart Ranking  •  Winner Control  •  Engineer Dossier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SAMSUNG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406640" y="18288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9A3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TCS / PQA INTELLIGENCE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This Platform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426464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9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tracking was fragmented and slow.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01622"/>
          </a:solidFill>
          <a:ln w="12700">
            <a:solidFill>
              <a:srgbClr val="1D284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9264" y="2075688"/>
            <a:ext cx="64008" cy="389534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3856" y="2066544"/>
            <a:ext cx="4928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 Reality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3856" y="2377440"/>
            <a:ext cx="4928616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sheets per product.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consolidation.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trusted single ranking.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winner communication.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to explain engineer performance fairly.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SAMSUNG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406640" y="18288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9A3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TCS / PQA INTELLIGENCE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This Platform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426464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9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tracking was fragmented and slow.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01622"/>
          </a:solidFill>
          <a:ln w="12700">
            <a:solidFill>
              <a:srgbClr val="1D284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9264" y="2075688"/>
            <a:ext cx="64008" cy="389534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3856" y="2066544"/>
            <a:ext cx="4928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 Reality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3856" y="2377440"/>
            <a:ext cx="4928616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sheets per product.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consolidation.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trusted single ranking.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winner communication.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to explain engineer performance fairly.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1920240"/>
            <a:ext cx="4983480" cy="4206240"/>
          </a:xfrm>
          <a:prstGeom prst="roundRect">
            <a:avLst>
              <a:gd name="adj" fmla="val 1739"/>
            </a:avLst>
          </a:prstGeom>
          <a:solidFill>
            <a:srgbClr val="101622"/>
          </a:solidFill>
          <a:ln w="12700">
            <a:solidFill>
              <a:srgbClr val="1D284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01384" y="2075688"/>
            <a:ext cx="64008" cy="3895344"/>
          </a:xfrm>
          <a:prstGeom prst="rect">
            <a:avLst/>
          </a:prstGeom>
          <a:solidFill>
            <a:srgbClr val="F8BE32"/>
          </a:solidFill>
          <a:ln w="12700">
            <a:solidFill>
              <a:srgbClr val="F8BE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65976" y="2066544"/>
            <a:ext cx="4562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65976" y="2377440"/>
            <a:ext cx="4562856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review cycles got delayed.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 trust dropped when rules looked unclear.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performers were not always highlighted fast enough.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 checks consumed team time.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SAMSUNG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406640" y="18288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9A3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TCS / PQA INTELLIGENCE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 Purpose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426464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9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raw operational data into clear, fair, and actionable decisions.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3474720" cy="4251960"/>
          </a:xfrm>
          <a:prstGeom prst="roundRect">
            <a:avLst>
              <a:gd name="adj" fmla="val 2105"/>
            </a:avLst>
          </a:prstGeom>
          <a:solidFill>
            <a:srgbClr val="101622"/>
          </a:solidFill>
          <a:ln w="12700">
            <a:solidFill>
              <a:srgbClr val="1D284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9264" y="2075688"/>
            <a:ext cx="64008" cy="3941064"/>
          </a:xfrm>
          <a:prstGeom prst="rect">
            <a:avLst/>
          </a:prstGeom>
          <a:solidFill>
            <a:srgbClr val="2E7BFF"/>
          </a:solidFill>
          <a:ln w="12700">
            <a:solidFill>
              <a:srgbClr val="2E7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3856" y="2066544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3856" y="2377440"/>
            <a:ext cx="305409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platform for MX, DA, AV, and PQA.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structure.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experience.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26280" y="1920240"/>
            <a:ext cx="3474720" cy="4251960"/>
          </a:xfrm>
          <a:prstGeom prst="roundRect">
            <a:avLst>
              <a:gd name="adj" fmla="val 2105"/>
            </a:avLst>
          </a:prstGeom>
          <a:solidFill>
            <a:srgbClr val="101622"/>
          </a:solidFill>
          <a:ln w="12700">
            <a:solidFill>
              <a:srgbClr val="1D284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72584" y="2075688"/>
            <a:ext cx="64008" cy="3941064"/>
          </a:xfrm>
          <a:prstGeom prst="rect">
            <a:avLst/>
          </a:prstGeom>
          <a:solidFill>
            <a:srgbClr val="23D18B"/>
          </a:solidFill>
          <a:ln w="12700">
            <a:solidFill>
              <a:srgbClr val="23D1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37176" y="2066544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37176" y="2377440"/>
            <a:ext cx="305409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 search shows KPI breakdown and score context.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Transparent metrics for everyone.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920240"/>
            <a:ext cx="3154680" cy="4251960"/>
          </a:xfrm>
          <a:prstGeom prst="roundRect">
            <a:avLst>
              <a:gd name="adj" fmla="val 2319"/>
            </a:avLst>
          </a:prstGeom>
          <a:solidFill>
            <a:srgbClr val="101622"/>
          </a:solidFill>
          <a:ln w="12700">
            <a:solidFill>
              <a:srgbClr val="1D284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75904" y="2075688"/>
            <a:ext cx="64008" cy="3941064"/>
          </a:xfrm>
          <a:prstGeom prst="rect">
            <a:avLst/>
          </a:prstGeom>
          <a:solidFill>
            <a:srgbClr val="C18CFF"/>
          </a:solidFill>
          <a:ln w="12700">
            <a:solidFill>
              <a:srgbClr val="C1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0496" y="2066544"/>
            <a:ext cx="2734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40496" y="2377440"/>
            <a:ext cx="273405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winners control + dashboard publishing.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leadership decisions and recognition.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SAMSUNG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406640" y="18288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9A3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TCS / PQA INTELLIGENCE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426464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9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flow. Powerful output.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80160" y="3429000"/>
            <a:ext cx="9509760" cy="0"/>
          </a:xfrm>
          <a:prstGeom prst="line">
            <a:avLst/>
          </a:prstGeom>
          <a:noFill/>
          <a:ln w="12700">
            <a:solidFill>
              <a:srgbClr val="3557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6032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111A2C"/>
          </a:solidFill>
          <a:ln w="12700">
            <a:solidFill>
              <a:srgbClr val="2C42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651760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D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295351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Upload 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24128" y="3264408"/>
            <a:ext cx="16459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8D8"/>
                </a:solidFill>
              </a:rPr>
              <a:t>Excel templates for each product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256032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111A2C"/>
          </a:solidFill>
          <a:ln w="12700">
            <a:solidFill>
              <a:srgbClr val="2C42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2651760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D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18688" y="295351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Normalize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18688" y="3264408"/>
            <a:ext cx="16459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8D8"/>
                </a:solidFill>
              </a:rPr>
              <a:t>Engineer code + KPI mapping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57800" y="256032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111A2C"/>
          </a:solidFill>
          <a:ln w="12700">
            <a:solidFill>
              <a:srgbClr val="2C42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67528" y="2651760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D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67528" y="295351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Score &amp; Rank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67528" y="3264408"/>
            <a:ext cx="16459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8D8"/>
                </a:solidFill>
              </a:rPr>
              <a:t>Final score + tier logic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60920" y="256032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111A2C"/>
          </a:solidFill>
          <a:ln w="12700">
            <a:solidFill>
              <a:srgbClr val="2C42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70648" y="2651760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D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70648" y="295351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Publish Winners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70648" y="3264408"/>
            <a:ext cx="16459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8D8"/>
                </a:solidFill>
              </a:rPr>
              <a:t>Admin top-6 control by quarter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64040" y="256032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111A2C"/>
          </a:solidFill>
          <a:ln w="12700">
            <a:solidFill>
              <a:srgbClr val="2C42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73768" y="2651760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D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573768" y="295351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Search &amp; Explain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73768" y="3264408"/>
            <a:ext cx="16459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8D8"/>
                </a:solidFill>
              </a:rPr>
              <a:t>Engineer dossier and KPI context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SAMSUNG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406640" y="18288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9A3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TCS / PQA INTELLIGENCE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for Every Division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426464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9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core engine, product-aware logic.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10312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101622"/>
          </a:solidFill>
          <a:ln w="12700">
            <a:solidFill>
              <a:srgbClr val="1D284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9264" y="2258568"/>
            <a:ext cx="64008" cy="3621024"/>
          </a:xfrm>
          <a:prstGeom prst="rect">
            <a:avLst/>
          </a:prstGeom>
          <a:solidFill>
            <a:srgbClr val="2E7BFF"/>
          </a:solidFill>
          <a:ln w="12700">
            <a:solidFill>
              <a:srgbClr val="2E7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3856" y="2249424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TCS MX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3856" y="2560320"/>
            <a:ext cx="2185416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 evaluation focus.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progression and leadership visibility.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0" y="210312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101622"/>
          </a:solidFill>
          <a:ln w="12700">
            <a:solidFill>
              <a:srgbClr val="1D284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03904" y="2258568"/>
            <a:ext cx="64008" cy="3621024"/>
          </a:xfrm>
          <a:prstGeom prst="rect">
            <a:avLst/>
          </a:prstGeom>
          <a:solidFill>
            <a:srgbClr val="F8BE32"/>
          </a:solidFill>
          <a:ln w="12700">
            <a:solidFill>
              <a:srgbClr val="F8BE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68496" y="2249424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TCS 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68496" y="2560320"/>
            <a:ext cx="2185416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score driven ranking.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winner reflection by engineer code.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210312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101622"/>
          </a:solidFill>
          <a:ln w="12700">
            <a:solidFill>
              <a:srgbClr val="1D284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38544" y="2258568"/>
            <a:ext cx="64008" cy="3621024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3136" y="2249424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TCS AV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03136" y="2560320"/>
            <a:ext cx="2185416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DA/AV workflow.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KPI and winner control.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326880" y="210312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101622"/>
          </a:solidFill>
          <a:ln w="12700">
            <a:solidFill>
              <a:srgbClr val="1D284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73184" y="2258568"/>
            <a:ext cx="64008" cy="3621024"/>
          </a:xfrm>
          <a:prstGeom prst="rect">
            <a:avLst/>
          </a:prstGeom>
          <a:solidFill>
            <a:srgbClr val="23D18B"/>
          </a:solidFill>
          <a:ln w="12700">
            <a:solidFill>
              <a:srgbClr val="23D1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37776" y="2249424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PQA MX / 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37776" y="2560320"/>
            <a:ext cx="2185416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Evaluation-point workflows,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service-center performance tracking.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SAMSUNG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406640" y="18288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9A3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TCS / PQA INTELLIGENCE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Control Hub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426464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9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governance, low friction.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011680"/>
            <a:ext cx="3749040" cy="4023360"/>
          </a:xfrm>
          <a:prstGeom prst="roundRect">
            <a:avLst>
              <a:gd name="adj" fmla="val 1951"/>
            </a:avLst>
          </a:prstGeom>
          <a:solidFill>
            <a:srgbClr val="101622"/>
          </a:solidFill>
          <a:ln w="12700">
            <a:solidFill>
              <a:srgbClr val="1D284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14984" y="2167128"/>
            <a:ext cx="64008" cy="3712464"/>
          </a:xfrm>
          <a:prstGeom prst="rect">
            <a:avLst/>
          </a:prstGeom>
          <a:solidFill>
            <a:srgbClr val="2E7BFF"/>
          </a:solidFill>
          <a:ln w="12700">
            <a:solidFill>
              <a:srgbClr val="2E7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9576" y="2157984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Top Winners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9576" y="2468880"/>
            <a:ext cx="332841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top 6 engineers per product and quarter.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is preserved as official podium order.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011680"/>
            <a:ext cx="3383280" cy="4023360"/>
          </a:xfrm>
          <a:prstGeom prst="roundRect">
            <a:avLst>
              <a:gd name="adj" fmla="val 2162"/>
            </a:avLst>
          </a:prstGeom>
          <a:solidFill>
            <a:srgbClr val="101622"/>
          </a:solidFill>
          <a:ln w="12700">
            <a:solidFill>
              <a:srgbClr val="1D284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01184" y="2167128"/>
            <a:ext cx="64008" cy="3712464"/>
          </a:xfrm>
          <a:prstGeom prst="rect">
            <a:avLst/>
          </a:prstGeom>
          <a:solidFill>
            <a:srgbClr val="23D18B"/>
          </a:solidFill>
          <a:ln w="12700">
            <a:solidFill>
              <a:srgbClr val="23D1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65776" y="2157984"/>
            <a:ext cx="2962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 Governance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65776" y="2468880"/>
            <a:ext cx="296265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template controls prevent mapping confusion.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quality stays high.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75320" y="2011680"/>
            <a:ext cx="3108960" cy="4023360"/>
          </a:xfrm>
          <a:prstGeom prst="roundRect">
            <a:avLst>
              <a:gd name="adj" fmla="val 2353"/>
            </a:avLst>
          </a:prstGeom>
          <a:solidFill>
            <a:srgbClr val="101622"/>
          </a:solidFill>
          <a:ln w="12700">
            <a:solidFill>
              <a:srgbClr val="1D284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21624" y="2167128"/>
            <a:ext cx="64008" cy="3712464"/>
          </a:xfrm>
          <a:prstGeom prst="rect">
            <a:avLst/>
          </a:prstGeom>
          <a:solidFill>
            <a:srgbClr val="C18CFF"/>
          </a:solidFill>
          <a:ln w="12700">
            <a:solidFill>
              <a:srgbClr val="C1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86216" y="2157984"/>
            <a:ext cx="2688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86216" y="2468880"/>
            <a:ext cx="268833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logic and clear quarter-product routing.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dashboard behavior.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SAMSUNG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406640" y="18288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9A3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TCS / PQA INTELLIGENCE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 Experience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426464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9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engineer can see performance clearly by code.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01168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101622"/>
          </a:solidFill>
          <a:ln w="12700">
            <a:solidFill>
              <a:srgbClr val="1D284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14984" y="2167128"/>
            <a:ext cx="64008" cy="3895344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9576" y="2157984"/>
            <a:ext cx="5065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Engineers Get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9576" y="2468880"/>
            <a:ext cx="5065776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by engineer code.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current score and tier.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KPI criteria and values.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period-specific performance context.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37960" y="2011680"/>
            <a:ext cx="4846320" cy="4206240"/>
          </a:xfrm>
          <a:prstGeom prst="roundRect">
            <a:avLst>
              <a:gd name="adj" fmla="val 1739"/>
            </a:avLst>
          </a:prstGeom>
          <a:solidFill>
            <a:srgbClr val="101622"/>
          </a:solidFill>
          <a:ln w="12700">
            <a:solidFill>
              <a:srgbClr val="1D284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84264" y="2167128"/>
            <a:ext cx="64008" cy="3895344"/>
          </a:xfrm>
          <a:prstGeom prst="rect">
            <a:avLst/>
          </a:prstGeom>
          <a:solidFill>
            <a:srgbClr val="23D18B"/>
          </a:solidFill>
          <a:ln w="12700">
            <a:solidFill>
              <a:srgbClr val="23D1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48856" y="2157984"/>
            <a:ext cx="4425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48856" y="2468880"/>
            <a:ext cx="4425696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Improves trust in scoring.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coaching conversations.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Makes goals concrete and measurable.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SAMSUNG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406640" y="18288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9A3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TCS / PQA INTELLIGENCE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 in 90 Days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426464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9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Step-by-step transformation story.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2103120"/>
            <a:ext cx="10058400" cy="1097280"/>
          </a:xfrm>
          <a:prstGeom prst="roundRect">
            <a:avLst>
              <a:gd name="adj" fmla="val 6667"/>
            </a:avLst>
          </a:prstGeom>
          <a:solidFill>
            <a:srgbClr val="101622"/>
          </a:solidFill>
          <a:ln w="12700">
            <a:solidFill>
              <a:srgbClr val="1D284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43584" y="2258568"/>
            <a:ext cx="64008" cy="786384"/>
          </a:xfrm>
          <a:prstGeom prst="rect">
            <a:avLst/>
          </a:prstGeom>
          <a:solidFill>
            <a:srgbClr val="2E7BFF"/>
          </a:solidFill>
          <a:ln w="12700">
            <a:solidFill>
              <a:srgbClr val="2E7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08176" y="2249424"/>
            <a:ext cx="9637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08176" y="2560320"/>
            <a:ext cx="96377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is standardized across teams.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SAMSUNG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406640" y="18288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9A3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TCS / PQA INTELLIGENCE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 in 90 Days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426464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9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Step-by-step transformation story.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2103120"/>
            <a:ext cx="10058400" cy="1097280"/>
          </a:xfrm>
          <a:prstGeom prst="roundRect">
            <a:avLst>
              <a:gd name="adj" fmla="val 6667"/>
            </a:avLst>
          </a:prstGeom>
          <a:solidFill>
            <a:srgbClr val="101622"/>
          </a:solidFill>
          <a:ln w="12700">
            <a:solidFill>
              <a:srgbClr val="1D284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43584" y="2258568"/>
            <a:ext cx="64008" cy="786384"/>
          </a:xfrm>
          <a:prstGeom prst="rect">
            <a:avLst/>
          </a:prstGeom>
          <a:solidFill>
            <a:srgbClr val="2E7BFF"/>
          </a:solidFill>
          <a:ln w="12700">
            <a:solidFill>
              <a:srgbClr val="2E7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08176" y="2249424"/>
            <a:ext cx="9637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08176" y="2560320"/>
            <a:ext cx="96377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is standardized across teams.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0" y="3429000"/>
            <a:ext cx="10058400" cy="1097280"/>
          </a:xfrm>
          <a:prstGeom prst="roundRect">
            <a:avLst>
              <a:gd name="adj" fmla="val 6667"/>
            </a:avLst>
          </a:prstGeom>
          <a:solidFill>
            <a:srgbClr val="101622"/>
          </a:solidFill>
          <a:ln w="12700">
            <a:solidFill>
              <a:srgbClr val="1D284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243584" y="3584448"/>
            <a:ext cx="64008" cy="786384"/>
          </a:xfrm>
          <a:prstGeom prst="rect">
            <a:avLst/>
          </a:prstGeom>
          <a:solidFill>
            <a:srgbClr val="23D18B"/>
          </a:solidFill>
          <a:ln w="12700">
            <a:solidFill>
              <a:srgbClr val="23D1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08176" y="3575304"/>
            <a:ext cx="9637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08176" y="3886200"/>
            <a:ext cx="96377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Rankings become transparent and trusted.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SAMSUNG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406640" y="18288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9A3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TCS / PQA INTELLIGENCE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 in 90 Days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426464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9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Step-by-step transformation story.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1828800"/>
            <a:ext cx="10058400" cy="1005840"/>
          </a:xfrm>
          <a:prstGeom prst="roundRect">
            <a:avLst>
              <a:gd name="adj" fmla="val 7273"/>
            </a:avLst>
          </a:prstGeom>
          <a:solidFill>
            <a:srgbClr val="101622"/>
          </a:solidFill>
          <a:ln w="12700">
            <a:solidFill>
              <a:srgbClr val="1D284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43584" y="1984248"/>
            <a:ext cx="64008" cy="694944"/>
          </a:xfrm>
          <a:prstGeom prst="rect">
            <a:avLst/>
          </a:prstGeom>
          <a:solidFill>
            <a:srgbClr val="2E7BFF"/>
          </a:solidFill>
          <a:ln w="12700">
            <a:solidFill>
              <a:srgbClr val="2E7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08176" y="1975104"/>
            <a:ext cx="9637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08176" y="2286000"/>
            <a:ext cx="96377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is standardized across teams.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0" y="2971800"/>
            <a:ext cx="10058400" cy="1005840"/>
          </a:xfrm>
          <a:prstGeom prst="roundRect">
            <a:avLst>
              <a:gd name="adj" fmla="val 7273"/>
            </a:avLst>
          </a:prstGeom>
          <a:solidFill>
            <a:srgbClr val="101622"/>
          </a:solidFill>
          <a:ln w="12700">
            <a:solidFill>
              <a:srgbClr val="1D284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243584" y="3127248"/>
            <a:ext cx="64008" cy="694944"/>
          </a:xfrm>
          <a:prstGeom prst="rect">
            <a:avLst/>
          </a:prstGeom>
          <a:solidFill>
            <a:srgbClr val="23D18B"/>
          </a:solidFill>
          <a:ln w="12700">
            <a:solidFill>
              <a:srgbClr val="23D1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08176" y="3118104"/>
            <a:ext cx="9637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08176" y="3429000"/>
            <a:ext cx="96377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Rankings become transparent and trusted.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4114800"/>
            <a:ext cx="10058400" cy="1005840"/>
          </a:xfrm>
          <a:prstGeom prst="roundRect">
            <a:avLst>
              <a:gd name="adj" fmla="val 7273"/>
            </a:avLst>
          </a:prstGeom>
          <a:solidFill>
            <a:srgbClr val="101622"/>
          </a:solidFill>
          <a:ln w="12700">
            <a:solidFill>
              <a:srgbClr val="1D284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243584" y="4270248"/>
            <a:ext cx="64008" cy="694944"/>
          </a:xfrm>
          <a:prstGeom prst="rect">
            <a:avLst/>
          </a:prstGeom>
          <a:solidFill>
            <a:srgbClr val="F8BE32"/>
          </a:solidFill>
          <a:ln w="12700">
            <a:solidFill>
              <a:srgbClr val="F8BE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08176" y="4261104"/>
            <a:ext cx="9637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08176" y="4572000"/>
            <a:ext cx="96377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publishes winners with confidence.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7280" y="5257800"/>
            <a:ext cx="10058400" cy="1005840"/>
          </a:xfrm>
          <a:prstGeom prst="roundRect">
            <a:avLst>
              <a:gd name="adj" fmla="val 7273"/>
            </a:avLst>
          </a:prstGeom>
          <a:solidFill>
            <a:srgbClr val="101622"/>
          </a:solidFill>
          <a:ln w="12700">
            <a:solidFill>
              <a:srgbClr val="1D284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243584" y="5413248"/>
            <a:ext cx="64008" cy="694944"/>
          </a:xfrm>
          <a:prstGeom prst="rect">
            <a:avLst/>
          </a:prstGeom>
          <a:solidFill>
            <a:srgbClr val="C18CFF"/>
          </a:solidFill>
          <a:ln w="12700">
            <a:solidFill>
              <a:srgbClr val="C18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08176" y="5404104"/>
            <a:ext cx="9637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08176" y="5715000"/>
            <a:ext cx="96377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Engineers understand exactly how to improve.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SAMSUNG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406640" y="18288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9A3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TCS / PQA INTELLIGENCE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Is More Than a Dashboard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426464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9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a performance language everyone can trust.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011680"/>
            <a:ext cx="10424160" cy="4114800"/>
          </a:xfrm>
          <a:prstGeom prst="roundRect">
            <a:avLst>
              <a:gd name="adj" fmla="val 2222"/>
            </a:avLst>
          </a:prstGeom>
          <a:solidFill>
            <a:srgbClr val="0D1526"/>
          </a:solidFill>
          <a:ln w="12700">
            <a:solidFill>
              <a:srgbClr val="2741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560320"/>
            <a:ext cx="9692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Source of Truth.</a:t>
            </a:r>
            <a:endParaRPr lang="en-US" sz="3900" dirty="0"/>
          </a:p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Ranking Story.</a:t>
            </a:r>
            <a:endParaRPr lang="en-US" sz="3900" dirty="0"/>
          </a:p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Team Momentum.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868680" y="6355080"/>
            <a:ext cx="10424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EA2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Samsung Customer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TCS/PQA Platform — Mind-Blowing Intro</dc:title>
  <dc:subject>App Introduction</dc:subject>
  <dc:creator>Samsung TCS/PQA Team</dc:creator>
  <cp:lastModifiedBy>Samsung TCS/PQA Team</cp:lastModifiedBy>
  <cp:revision>1</cp:revision>
  <dcterms:created xsi:type="dcterms:W3CDTF">2026-05-01T20:34:49Z</dcterms:created>
  <dcterms:modified xsi:type="dcterms:W3CDTF">2026-05-01T20:34:49Z</dcterms:modified>
</cp:coreProperties>
</file>